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09B5-BD5E-2C11-E919-A21906288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67088-D933-3CE2-BDDE-7F5357E62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5CD8-3625-0B77-54D4-42DB1247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F326A-2AF4-CB4D-F8AA-2F86D88B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C9010-354C-F9D3-2C62-11A8332F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02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6D60-CC87-B7F8-FF3F-47593FBE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C4CC-C148-6E1A-2A11-4F60AC3B5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AA2B-E9CC-F586-0A46-18FE8A75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F1DD0-D1B2-B29A-86B1-22FB8369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1EA70-2F85-A792-E93D-81A038A5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84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BC91-5178-6368-95B0-0CA7D7F0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BAB8F-CD9B-9CC7-2C0A-557E3D6D2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70AC8-70BB-CF36-0743-F8D53132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75979-206A-27C6-CD83-7FFBBA94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AA55A-21D3-27CD-7C57-916A77B9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49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B3D8-7C58-D470-AC0B-3B1AAB04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832D-1818-67F5-E98F-79428DA9C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6B639-D255-857D-D560-34D786A20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B1630-25B6-573F-F40C-7A78ABCFA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5B177-71BC-D37D-773D-C6E14CF0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46FC9-50CA-22D1-A450-35EA37B2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82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0F6E-32FD-B512-B217-F4D90B2A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E7EC7-BCD7-D46B-618D-666177A7F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2BA32-9F48-34B4-031D-22384761F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17471-33FE-2F64-74BD-A91790B7B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4ABCB-B5B0-007E-5D09-7B6790B87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01A93-527A-DFCF-D7E3-169DC3BF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BDF43-8A44-F79E-27DD-6F27BE06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800B4-BDB9-0C0E-6691-04E11461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32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B499-8E6B-CD2D-1C46-68BE0BEF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7B730-6305-1DA2-FAAB-D4C1FA65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1E956-D83D-B19D-2050-8DDF2605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A507-2E33-FB98-60A3-7AAD1C91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7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39292-A134-431E-C775-2C158622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A3AE4-5A09-688F-DB39-674B05F6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16CC8-8350-B3D2-0D7B-8300307B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29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53CB2-BEAC-3A24-A2F6-E0B05ED3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95ACB-E792-0712-E8A3-B2088432C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AF1C2-416F-79EC-6F2D-C0F1DEBB6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371EC-BA92-79EE-0949-A7C9C9A4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F558D-F153-830A-DAA8-D7B9641E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1491F-4195-D292-24AB-A818C574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0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851A-558A-4E60-D2E1-0EF27D47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63CD2-557F-B758-F192-178DAF87C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741E8-3054-D54F-DD8D-D548C2E55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B8C32-C7C4-D4D9-7F80-58EF5915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A4A24-87FD-FC2F-2C1D-409B3740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05C26-1F6A-EC94-2CC8-897ECEEA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93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43AE-B2A4-E0C8-08FD-3B2296C2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2E05E-824D-38CB-CD8B-31E1E8C39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1943B-DD95-FA9B-F08B-063E5B0C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15E7-06D8-0A3A-3B5F-B30556FB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CFCED-643F-4FA2-B302-6CB2ECC0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03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2E6D1-F2AC-5398-4636-293CC3B90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82D1-0CF6-6E37-3A4A-A89975307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C3D62-9AD3-2271-C456-3B766307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65D39-34EF-486E-10E5-207E18FB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824BC-7F5D-04E8-2F00-B5FAC736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32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7AE57-A3A1-798A-140B-E05F97BB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E71C2-ECCE-F52D-4441-75F48B295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07E99-123C-FBF4-22B7-4A6939DA8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6C88F-5B73-4555-A33B-58C58530580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82D0-BD7C-D718-1B81-37454DB1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E54C-D5C2-175A-16CD-70B2AA191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04C48-4958-4769-98F5-6E8ECAD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96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8289-9435-F38E-436C-240C3BD71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Arial Black" panose="020B0A04020102020204" pitchFamily="34" charset="0"/>
              </a:rPr>
              <a:t>BlueStock 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C8E15-E8EA-F35F-73E4-71FFC2ABC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6012"/>
            <a:ext cx="9144000" cy="39846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From Raw Data to Investment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6AD4B-849E-1863-63DE-89123CCE810A}"/>
              </a:ext>
            </a:extLst>
          </p:cNvPr>
          <p:cNvSpPr txBox="1"/>
          <p:nvPr/>
        </p:nvSpPr>
        <p:spPr>
          <a:xfrm>
            <a:off x="2609850" y="3255962"/>
            <a:ext cx="8058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</a:rPr>
              <a:t>Capstone Project | End-to-End Data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4DFF4-B2D8-D029-6513-1D7B65402810}"/>
              </a:ext>
            </a:extLst>
          </p:cNvPr>
          <p:cNvSpPr txBox="1"/>
          <p:nvPr/>
        </p:nvSpPr>
        <p:spPr>
          <a:xfrm>
            <a:off x="8229601" y="5383601"/>
            <a:ext cx="3743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PREPARED BY : SINDHU M</a:t>
            </a:r>
          </a:p>
          <a:p>
            <a:r>
              <a:rPr lang="en-US" sz="2400" b="1" dirty="0"/>
              <a:t>DATE : JUNE 2026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2A229B-28D0-8C85-964D-5679B9DFA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4050-D17E-91BD-159B-F4AF5F78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69" y="367543"/>
            <a:ext cx="6505575" cy="977900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3DD6-3793-640B-BB93-645409CF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4424"/>
            <a:ext cx="11149013" cy="5743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Retail investors and fund managers lack a unified view of mutual fund     performance, risk, and investor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making it difficult to compare funds, track portfolio health, or identify at-risk investors.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Build a full-stack analytics platform that: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and cleans multi-source MF data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structured analytical database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industry-standard performance metrics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an interactive dashboard for decision-making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managers, retail investors, financial advisors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A04FD-498D-BCC0-DD56-5088817B0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15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2B0E-C11B-3442-395A-A54D2512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276" y="322941"/>
            <a:ext cx="3857626" cy="977900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DATA 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838E41-375F-F29B-92B3-2CF85529F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2208739"/>
              </p:ext>
            </p:extLst>
          </p:nvPr>
        </p:nvGraphicFramePr>
        <p:xfrm>
          <a:off x="838200" y="2721134"/>
          <a:ext cx="10515600" cy="3017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957218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64701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KEY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569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NAV History (150K+ 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amfi_code, date, nav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879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Scheme Performance (40 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returns, Sharpe, Alpha, Beta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3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Investor Transactions (10K+ 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type, amount, state, age_group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50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SIP Trends (48 months)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month, </a:t>
                      </a:r>
                      <a:r>
                        <a:rPr lang="en-IN" sz="2200" dirty="0" err="1"/>
                        <a:t>sip_inflow_crore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24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Benchmark (NIFTY50, NIFTY100)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date, close_value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81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AMC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 err="1"/>
                        <a:t>fund_house</a:t>
                      </a:r>
                      <a:r>
                        <a:rPr lang="en-IN" sz="2200" dirty="0"/>
                        <a:t>, </a:t>
                      </a:r>
                      <a:r>
                        <a:rPr lang="en-IN" sz="2200" dirty="0" err="1"/>
                        <a:t>total_aum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6862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8AD24E-4FD3-ADEC-8A7B-2323A3C6D520}"/>
              </a:ext>
            </a:extLst>
          </p:cNvPr>
          <p:cNvSpPr txBox="1"/>
          <p:nvPr/>
        </p:nvSpPr>
        <p:spPr>
          <a:xfrm>
            <a:off x="2752131" y="1331349"/>
            <a:ext cx="73259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8 Datasets | 40 Schemes | 10 Fund Houses | 4-Year History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Coverage: Jan 2022 – Apr 2026 | Pan-India investors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ED8F0B-68E5-DD3C-BC48-2EA8C7553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586E-332D-1186-88DB-04E8EA9C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368" y="204786"/>
            <a:ext cx="4005263" cy="877888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86A5-CBA1-8CA3-2B97-6A693D61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705" y="1108073"/>
            <a:ext cx="4421983" cy="5749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RAW DATA (CSVs)</a:t>
            </a:r>
          </a:p>
          <a:p>
            <a:pPr marL="0" indent="0">
              <a:buNone/>
            </a:pPr>
            <a:r>
              <a:rPr lang="en-IN" sz="1800" b="1" dirty="0"/>
              <a:t>             ↓</a:t>
            </a:r>
          </a:p>
          <a:p>
            <a:pPr marL="0" indent="0">
              <a:buNone/>
            </a:pPr>
            <a:r>
              <a:rPr lang="en-IN" sz="1800" b="1" dirty="0"/>
              <a:t>Data Cleaning</a:t>
            </a:r>
          </a:p>
          <a:p>
            <a:pPr marL="0" indent="0">
              <a:buNone/>
            </a:pPr>
            <a:r>
              <a:rPr lang="en-IN" sz="1800" b="1" dirty="0"/>
              <a:t>(Pandas, Python)</a:t>
            </a:r>
          </a:p>
          <a:p>
            <a:pPr marL="0" indent="0">
              <a:buNone/>
            </a:pPr>
            <a:r>
              <a:rPr lang="en-IN" sz="1800" b="1" dirty="0"/>
              <a:t>            ↓</a:t>
            </a:r>
          </a:p>
          <a:p>
            <a:pPr marL="0" indent="0">
              <a:buNone/>
            </a:pPr>
            <a:r>
              <a:rPr lang="en-IN" sz="1800" b="1" dirty="0"/>
              <a:t>SQLite Database</a:t>
            </a:r>
          </a:p>
          <a:p>
            <a:pPr marL="0" indent="0">
              <a:buNone/>
            </a:pPr>
            <a:r>
              <a:rPr lang="en-IN" sz="1800" b="1" dirty="0"/>
              <a:t>(Star Schema, 5 Tables)</a:t>
            </a:r>
          </a:p>
          <a:p>
            <a:pPr marL="0" indent="0">
              <a:buNone/>
            </a:pPr>
            <a:r>
              <a:rPr lang="en-IN" sz="1800" b="1" dirty="0"/>
              <a:t>            ↓</a:t>
            </a:r>
          </a:p>
          <a:p>
            <a:pPr marL="0" indent="0">
              <a:buNone/>
            </a:pPr>
            <a:r>
              <a:rPr lang="en-IN" sz="1800" b="1" dirty="0"/>
              <a:t>Python Analytics      →    CSV Outputs</a:t>
            </a:r>
          </a:p>
          <a:p>
            <a:pPr marL="0" indent="0">
              <a:buNone/>
            </a:pPr>
            <a:r>
              <a:rPr lang="en-IN" sz="1800" b="1" dirty="0"/>
              <a:t>(</a:t>
            </a:r>
            <a:r>
              <a:rPr lang="en-IN" sz="1800" b="1" dirty="0" err="1"/>
              <a:t>Colab</a:t>
            </a:r>
            <a:r>
              <a:rPr lang="en-IN" sz="1800" b="1" dirty="0"/>
              <a:t> Notebooks)          (Scorecard, </a:t>
            </a:r>
            <a:r>
              <a:rPr lang="en-IN" sz="1800" b="1" dirty="0" err="1"/>
              <a:t>VaR</a:t>
            </a:r>
            <a:r>
              <a:rPr lang="en-IN" sz="1800" b="1" dirty="0"/>
              <a:t>)</a:t>
            </a:r>
          </a:p>
          <a:p>
            <a:pPr marL="0" indent="0">
              <a:buNone/>
            </a:pPr>
            <a:r>
              <a:rPr lang="en-IN" sz="1800" b="1" dirty="0"/>
              <a:t>            ↓</a:t>
            </a:r>
          </a:p>
          <a:p>
            <a:pPr marL="0" indent="0">
              <a:buNone/>
            </a:pPr>
            <a:r>
              <a:rPr lang="en-IN" sz="1800" b="1" dirty="0"/>
              <a:t>Power BI Dashboard</a:t>
            </a:r>
          </a:p>
          <a:p>
            <a:pPr marL="0" indent="0">
              <a:buNone/>
            </a:pPr>
            <a:r>
              <a:rPr lang="en-IN" sz="1800" b="1" dirty="0"/>
              <a:t>(4 Pages, 20+ Charts)</a:t>
            </a:r>
          </a:p>
          <a:p>
            <a:pPr marL="0" indent="0">
              <a:buNone/>
            </a:pPr>
            <a:r>
              <a:rPr lang="en-IN" sz="1800" b="1" dirty="0"/>
              <a:t>            ↓</a:t>
            </a:r>
          </a:p>
          <a:p>
            <a:pPr marL="0" indent="0">
              <a:buNone/>
            </a:pPr>
            <a:r>
              <a:rPr lang="en-IN" sz="1800" b="1" dirty="0"/>
              <a:t>Final Report + Presentation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10642-7DC0-B4BD-59B0-1A793EA0D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3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6848-1E73-49DE-5612-127F7EB2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887" y="367543"/>
            <a:ext cx="4629151" cy="720725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EDA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6030-84F4-4454-A4BA-3AC0D4F7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3" y="1528763"/>
            <a:ext cx="8562975" cy="4805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Investor </a:t>
            </a:r>
            <a:r>
              <a:rPr lang="en-IN" sz="2400" b="1" dirty="0" err="1"/>
              <a:t>Behavior</a:t>
            </a:r>
            <a:r>
              <a:rPr lang="en-IN" sz="2400" b="1" dirty="0"/>
              <a:t> Insights:</a:t>
            </a:r>
            <a:endParaRPr lang="en-IN" sz="2400" dirty="0"/>
          </a:p>
          <a:p>
            <a:pPr lvl="0"/>
            <a:r>
              <a:rPr lang="en-IN" sz="2400" dirty="0"/>
              <a:t>SIP = 60% of all transactions (dominant mode)</a:t>
            </a:r>
          </a:p>
          <a:p>
            <a:pPr lvl="0"/>
            <a:r>
              <a:rPr lang="en-IN" sz="2400" dirty="0"/>
              <a:t>Maharashtra, Karnataka, Tamil Nadu = top 3 states by volume</a:t>
            </a:r>
          </a:p>
          <a:p>
            <a:pPr lvl="0"/>
            <a:r>
              <a:rPr lang="en-IN" sz="2400" dirty="0"/>
              <a:t>T30 cities contribute 72% of total transaction value</a:t>
            </a:r>
          </a:p>
          <a:p>
            <a:pPr lvl="0"/>
            <a:r>
              <a:rPr lang="en-IN" sz="2400" dirty="0"/>
              <a:t>Age 31–40 = highest average SIP amount</a:t>
            </a:r>
          </a:p>
          <a:p>
            <a:pPr lvl="0"/>
            <a:r>
              <a:rPr lang="en-IN" sz="2400" dirty="0"/>
              <a:t>Tax-saving season (Jan, Mar) drives transaction spikes</a:t>
            </a:r>
          </a:p>
          <a:p>
            <a:pPr lvl="0"/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NAV Distribution:</a:t>
            </a:r>
            <a:endParaRPr lang="en-IN" sz="2400" dirty="0"/>
          </a:p>
          <a:p>
            <a:pPr lvl="0"/>
            <a:r>
              <a:rPr lang="en-IN" sz="2400" dirty="0"/>
              <a:t>Mean daily return: 0.06% | Std Dev: 1.03%</a:t>
            </a:r>
          </a:p>
          <a:p>
            <a:pPr lvl="0"/>
            <a:r>
              <a:rPr lang="en-IN" sz="2400" dirty="0"/>
              <a:t>Distribution is approximately normal with positive skew</a:t>
            </a:r>
          </a:p>
          <a:p>
            <a:pPr lvl="0"/>
            <a:r>
              <a:rPr lang="en-IN" sz="2400" dirty="0"/>
              <a:t>Zero extreme outliers (&gt;±10% moves)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FF133-3397-76F0-2C15-1A8D2982F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2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EDA8-739B-2746-7221-BAF57BF8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63" y="561200"/>
            <a:ext cx="4619625" cy="635000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EDA HIGHLIGHTS</a:t>
            </a: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518C-7EA1-8204-8758-11A31C304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662" y="1163676"/>
            <a:ext cx="10515600" cy="56617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SIP Trend vs Market: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observations:</a:t>
            </a:r>
          </a:p>
          <a:p>
            <a:pPr lvl="0"/>
            <a:r>
              <a:rPr lang="en-IN" dirty="0"/>
              <a:t>SIP inflows grew consistently despite market volatility</a:t>
            </a:r>
          </a:p>
          <a:p>
            <a:pPr lvl="0"/>
            <a:r>
              <a:rPr lang="en-IN" dirty="0"/>
              <a:t>Mid-cap and small-cap categories captured highest FY25 inflows</a:t>
            </a:r>
          </a:p>
          <a:p>
            <a:pPr lvl="0"/>
            <a:r>
              <a:rPr lang="en-IN" dirty="0"/>
              <a:t>Strong positive correlation between market sentiment and SIP growth</a:t>
            </a:r>
          </a:p>
          <a:p>
            <a:pPr lvl="0"/>
            <a:r>
              <a:rPr lang="en-IN" dirty="0"/>
              <a:t>Dip in SIP inflows during Q3 2022 (market correction period)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17210-796C-55D7-E177-39FCBF8F6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A903FB-A949-8E29-1580-47C1D363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1614488"/>
            <a:ext cx="568642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2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1A2D-54B6-7CAB-F135-00F82CDB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26" y="566774"/>
            <a:ext cx="6486525" cy="763588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PERFORMANCE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CDEC6D-5E35-59D1-3F06-D0C380F2D2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984599"/>
              </p:ext>
            </p:extLst>
          </p:nvPr>
        </p:nvGraphicFramePr>
        <p:xfrm>
          <a:off x="1133474" y="4918412"/>
          <a:ext cx="10515600" cy="1706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269501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105159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2202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3yr CAGR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3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Axis Midcap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35.11%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9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DSP Small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32.8%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34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ICICI Pru Midcap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30.5%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6296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105E7-0EEF-EC98-FCF4-E57A74E91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522876"/>
              </p:ext>
            </p:extLst>
          </p:nvPr>
        </p:nvGraphicFramePr>
        <p:xfrm>
          <a:off x="1166812" y="1927791"/>
          <a:ext cx="10515600" cy="1706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4854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57023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6436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9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ICICI Pru Midcap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100.00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77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Axis Midcap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91.4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85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Mirae Asset Large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87.2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89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07307E-1E82-22DE-47CD-9B749B14450E}"/>
              </a:ext>
            </a:extLst>
          </p:cNvPr>
          <p:cNvSpPr txBox="1"/>
          <p:nvPr/>
        </p:nvSpPr>
        <p:spPr>
          <a:xfrm>
            <a:off x="804862" y="4021430"/>
            <a:ext cx="108442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Fund Scorecard — Top 3 (Composite 0–100):</a:t>
            </a:r>
            <a:endParaRPr lang="en-IN" sz="2200" dirty="0"/>
          </a:p>
          <a:p>
            <a:pPr>
              <a:buNone/>
            </a:pPr>
            <a:r>
              <a:rPr lang="en-IN" sz="2200" i="1" dirty="0"/>
              <a:t>Scorecard: 30% return + 25% Sharpe + 20% Alpha + 15% expense + 10% drawdown</a:t>
            </a:r>
            <a:endParaRPr lang="en-I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64F3C2-5266-E706-C55E-7398B242C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54A160-A49D-D031-6E72-FF73DCAF9621}"/>
              </a:ext>
            </a:extLst>
          </p:cNvPr>
          <p:cNvSpPr txBox="1"/>
          <p:nvPr/>
        </p:nvSpPr>
        <p:spPr>
          <a:xfrm>
            <a:off x="1014413" y="1417568"/>
            <a:ext cx="3857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3-Year CAGR Champions:</a:t>
            </a:r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4632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28F3-1A86-E462-1DC5-26E393E2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213" y="689548"/>
            <a:ext cx="6848475" cy="649288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PERFORMANCE METRICS</a:t>
            </a:r>
            <a:endParaRPr lang="en-IN" sz="3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5705C-923A-64BA-DE21-07AF69ED1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536637"/>
              </p:ext>
            </p:extLst>
          </p:nvPr>
        </p:nvGraphicFramePr>
        <p:xfrm>
          <a:off x="1142999" y="2098199"/>
          <a:ext cx="10515600" cy="17068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148373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62092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54221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269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Sharpe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Max 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VaR (95%)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89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Mirae Large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−24.3%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16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ICICI Midcap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−38.1%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09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SBI Small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0.71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−52.6%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3.1%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4736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02AB37-D419-50FB-7525-0C3C9E07DA57}"/>
              </a:ext>
            </a:extLst>
          </p:cNvPr>
          <p:cNvSpPr txBox="1"/>
          <p:nvPr/>
        </p:nvSpPr>
        <p:spPr>
          <a:xfrm>
            <a:off x="1000125" y="4323074"/>
            <a:ext cx="10801349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500" b="1" dirty="0"/>
              <a:t>Key Insight: </a:t>
            </a:r>
            <a:r>
              <a:rPr lang="en-IN" sz="2400" dirty="0"/>
              <a:t>Small-cap funds offer highest returns but carry 2× the drawdown risk of large-cap funds. The risk-return </a:t>
            </a:r>
            <a:r>
              <a:rPr lang="en-IN" sz="2400" dirty="0" err="1"/>
              <a:t>tradeoff</a:t>
            </a:r>
            <a:r>
              <a:rPr lang="en-IN" sz="2400" dirty="0"/>
              <a:t> is clearly visible in the scatter plot.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6298C-04C3-400A-2490-6F4C9AF68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1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A6A6-154D-7B4E-9851-E0636F19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513" y="681037"/>
            <a:ext cx="6648450" cy="635000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DASHBOARD SCREENSHOT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56CCF5-5CD3-BD9B-2BA3-FDDA0BAFB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1" y="1895127"/>
            <a:ext cx="522922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07B0EB-4F8C-AD51-5CEC-DEB3C98E7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A16DC7-A1A1-B1BA-68D9-B63DE8C02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589" y="1895127"/>
            <a:ext cx="6057900" cy="421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75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D91B-152E-A6BB-C87C-F3343EB0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1" y="681037"/>
            <a:ext cx="6791325" cy="620713"/>
          </a:xfrm>
        </p:spPr>
        <p:txBody>
          <a:bodyPr>
            <a:normAutofit/>
          </a:bodyPr>
          <a:lstStyle/>
          <a:p>
            <a: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  <a:t>DASHBOARD SCREENSHOT </a:t>
            </a:r>
            <a:endParaRPr lang="en-IN" sz="3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5F8E92-4C6E-6B61-77D8-0231041DE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6" y="2000250"/>
            <a:ext cx="5794799" cy="4176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D15926-B2B4-C14F-066C-3A7A96AE4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DFE9FD-BEDD-9D39-A780-8FDE76342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000250"/>
            <a:ext cx="6009694" cy="417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4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AD99-2330-8CE9-6DF7-24872A2F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050" y="1003318"/>
            <a:ext cx="9305925" cy="614362"/>
          </a:xfrm>
        </p:spPr>
        <p:txBody>
          <a:bodyPr>
            <a:normAutofit fontScale="90000"/>
          </a:bodyPr>
          <a:lstStyle/>
          <a:p>
            <a:r>
              <a:rPr lang="en-IN" sz="3400" b="1" dirty="0">
                <a:solidFill>
                  <a:srgbClr val="002060"/>
                </a:solidFill>
                <a:latin typeface="Cooper Black" panose="0208090404030B020404" pitchFamily="18" charset="0"/>
              </a:rPr>
              <a:t>KEY FINDINGS &amp; RECOMMENDATIONS</a:t>
            </a:r>
            <a:br>
              <a:rPr lang="en-IN" sz="3400" dirty="0">
                <a:solidFill>
                  <a:srgbClr val="002060"/>
                </a:solidFill>
                <a:latin typeface="Cooper Black" panose="0208090404030B020404" pitchFamily="18" charset="0"/>
              </a:rPr>
            </a:br>
            <a:endParaRPr lang="en-IN" sz="3400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1F07-98EC-165B-9B03-66E60608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538" y="1503344"/>
            <a:ext cx="9891713" cy="53546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Findings: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Mid-cap funds deliver 2.5× the risk-adjusted return of large-cap over 3 years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At-risk SIP investors (gap &gt;35 days) = opportunity for retention campaigns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HHI analysis: Small-cap funds are 2.5× more concentrated than large-cap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T30 investors drive 72% of value — high-value segment for personalization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Sharpe drops sharply during corrections — early warning signal</a:t>
            </a:r>
          </a:p>
          <a:p>
            <a:pPr marL="0" indent="0">
              <a:buNone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composite scorecard for fund selection (not just returns)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at-risk SIP investors for proactive outreach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ETL pipeline for live data refresh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all 1,908 schemes via AMFI API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219E4-9278-E2BE-AC94-181DBE89A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0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537EE-DBCC-3AA0-78D0-D7DEB287A3E3}"/>
              </a:ext>
            </a:extLst>
          </p:cNvPr>
          <p:cNvSpPr txBox="1"/>
          <p:nvPr/>
        </p:nvSpPr>
        <p:spPr>
          <a:xfrm>
            <a:off x="1252537" y="1428750"/>
            <a:ext cx="9686925" cy="542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5F832-263F-8667-8F6F-4D28C3578204}"/>
              </a:ext>
            </a:extLst>
          </p:cNvPr>
          <p:cNvSpPr txBox="1"/>
          <p:nvPr/>
        </p:nvSpPr>
        <p:spPr>
          <a:xfrm>
            <a:off x="2752724" y="3428999"/>
            <a:ext cx="112728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BlueStock Mutual Fund Analytics Platform</a:t>
            </a:r>
            <a:br>
              <a:rPr lang="en-IN" sz="2000" dirty="0"/>
            </a:br>
            <a:r>
              <a:rPr lang="en-IN" sz="2000" i="1" dirty="0"/>
              <a:t>Complete | Scalable | Data-Driven</a:t>
            </a:r>
            <a:endParaRPr lang="en-IN" sz="2000" dirty="0"/>
          </a:p>
          <a:p>
            <a:r>
              <a:rPr lang="en-IN" sz="2000" dirty="0"/>
              <a:t>GitHub: https://github.com/SINDHU071/BlueStock_Capstone_Project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dirty="0"/>
              <a:t>Deliverables Completed:</a:t>
            </a:r>
            <a:br>
              <a:rPr lang="en-IN" sz="2000" dirty="0"/>
            </a:br>
            <a:r>
              <a:rPr lang="en-IN" sz="2000" dirty="0"/>
              <a:t>Data Cleaning &amp; ETL | SQLite Database | SQL Queries</a:t>
            </a:r>
            <a:br>
              <a:rPr lang="en-IN" sz="2000" dirty="0"/>
            </a:br>
            <a:r>
              <a:rPr lang="en-IN" sz="2000" dirty="0"/>
              <a:t>Performance Analytics | Advanced Analytics | Power BI Dashboard</a:t>
            </a:r>
            <a:br>
              <a:rPr lang="en-IN" sz="2000" dirty="0"/>
            </a:br>
            <a:r>
              <a:rPr lang="en-IN" sz="2000" dirty="0"/>
              <a:t> Final Report |Presentation</a:t>
            </a:r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1E312-1E46-6BF8-BC2C-FD3BD7630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168312"/>
            <a:ext cx="2919413" cy="398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88D84A-911E-9B0A-89A5-F172B699A3BF}"/>
              </a:ext>
            </a:extLst>
          </p:cNvPr>
          <p:cNvSpPr txBox="1"/>
          <p:nvPr/>
        </p:nvSpPr>
        <p:spPr>
          <a:xfrm>
            <a:off x="2545555" y="2305615"/>
            <a:ext cx="81867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THANK YOU</a:t>
            </a:r>
            <a:endParaRPr lang="en-IN" sz="7000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  <a:p>
            <a:endParaRPr lang="en-IN" sz="7000" dirty="0"/>
          </a:p>
        </p:txBody>
      </p:sp>
    </p:spTree>
    <p:extLst>
      <p:ext uri="{BB962C8B-B14F-4D97-AF65-F5344CB8AC3E}">
        <p14:creationId xmlns:p14="http://schemas.microsoft.com/office/powerpoint/2010/main" val="410698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715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Cooper Black</vt:lpstr>
      <vt:lpstr>Times New Roman</vt:lpstr>
      <vt:lpstr>Office Theme</vt:lpstr>
      <vt:lpstr>BlueStock Mutual Fund Analytics Platform</vt:lpstr>
      <vt:lpstr>PROBLEM &amp; OBJECTIVE</vt:lpstr>
      <vt:lpstr>DATA SOURCES</vt:lpstr>
      <vt:lpstr>ARCHITECTURE</vt:lpstr>
      <vt:lpstr>EDA HIGHLIGHTS</vt:lpstr>
      <vt:lpstr>EDA HIGHLIGHTS</vt:lpstr>
      <vt:lpstr>PERFORMANCE METRICS</vt:lpstr>
      <vt:lpstr>PERFORMANCE METRICS</vt:lpstr>
      <vt:lpstr>DASHBOARD SCREENSHOT </vt:lpstr>
      <vt:lpstr>DASHBOARD SCREENSHOT </vt:lpstr>
      <vt:lpstr>KEY FINDINGS &amp; 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sindhumanokaran07@gmail.com</dc:creator>
  <cp:lastModifiedBy>sindhumanokaran07@gmail.com</cp:lastModifiedBy>
  <cp:revision>1</cp:revision>
  <dcterms:created xsi:type="dcterms:W3CDTF">2026-06-12T13:42:26Z</dcterms:created>
  <dcterms:modified xsi:type="dcterms:W3CDTF">2026-06-12T15:56:26Z</dcterms:modified>
</cp:coreProperties>
</file>